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3" r:id="rId14"/>
    <p:sldId id="264" r:id="rId15"/>
    <p:sldId id="265" r:id="rId16"/>
    <p:sldId id="261" r:id="rId7"/>
    <p:sldId id="266" r:id="rId1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0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bg_16x9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94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C37D"/>
                </a:solidFill>
              </a:rPr>
              <a:t>КУРСОВАЯ РАБОТА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21792" y="1170432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8EF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8EF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Patisserie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58368" y="2999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EFE6"/>
                </a:solidFill>
              </a:rPr>
              <a:t>Разработка онлайн информационной системы для кондитерских магазинов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" y="3730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B9AE"/>
                </a:solidFill>
              </a:rPr>
              <a:t>Веб-системы и технологии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8368" y="524865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EFE6"/>
                </a:solidFill>
              </a:rPr>
              <a:t>Студент: Керимов Камиль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EFE6"/>
                </a:solidFill>
              </a:rPr>
              <a:t>Группа: 680.23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EFE6"/>
                </a:solidFill>
              </a:rPr>
              <a:t>Проверили: Халилов Матлаб, Алиев Джамиль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966960" y="62910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DB9AE"/>
                </a:solidFill>
              </a:rPr>
              <a:t>Баку - 2026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EF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проекта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B9AE"/>
                </a:solidFill>
              </a:rPr>
              <a:t>Создать понятную информационную систему для кондитерского магазина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72800" cy="0"/>
          </a:xfrm>
          <a:prstGeom prst="line">
            <a:avLst/>
          </a:prstGeom>
          <a:noFill/>
          <a:ln w="12700">
            <a:solidFill>
              <a:srgbClr val="5A2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280160"/>
            <a:ext cx="5705856" cy="3785616"/>
          </a:xfrm>
          <a:prstGeom prst="roundRect">
            <a:avLst>
              <a:gd name="adj" fmla="val 1932"/>
            </a:avLst>
          </a:prstGeom>
          <a:solidFill>
            <a:srgbClr val="120C0E"/>
          </a:solidFill>
          <a:ln w="12700">
            <a:solidFill>
              <a:srgbClr val="5A2630"/>
            </a:solidFill>
            <a:prstDash val="solid"/>
          </a:ln>
        </p:spPr>
      </p:sp>
      <p:pic>
        <p:nvPicPr>
          <p:cNvPr id="6" name="Image 0" descr="/mnt/data/course_screenshots/01_home_16x9_dark.png">    </p:cNvPr>
          <p:cNvPicPr>
            <a:picLocks noChangeAspect="1"/>
          </p:cNvPicPr>
          <p:nvPr/>
        </p:nvPicPr>
        <p:blipFill>
          <a:blip r:embed="rId1"/>
          <a:srcRect l="7490" r="7490" t="0" b="0"/>
          <a:stretch/>
        </p:blipFill>
        <p:spPr>
          <a:xfrm>
            <a:off x="685800" y="1298448"/>
            <a:ext cx="566928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C37D"/>
                </a:solidFill>
              </a:rPr>
              <a:t>ОСНОВНАЯ ИДЕЯ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720840" y="1645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EFE6"/>
                </a:solidFill>
              </a:rPr>
              <a:t>Сайт помогает клиенту быстро посмотреть ассортимент, выбрать десерты и оформить заказ без лишней сложности.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720840" y="2761488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22008" y="2926080"/>
            <a:ext cx="4215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Что решает сайт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22008" y="3328416"/>
            <a:ext cx="42153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показывает меню и категории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упрощает выбор товаров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собирает заказ через форму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4407408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22008" y="4572000"/>
            <a:ext cx="4215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Ограничение проекта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22008" y="4974336"/>
            <a:ext cx="42153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без серверной части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вся логика на стороне клиента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данные хранятся в JS-файлах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EF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сайта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B9AE"/>
                </a:solidFill>
              </a:rPr>
              <a:t>Проект состоит из четырёх основных HTML-страниц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72800" cy="0"/>
          </a:xfrm>
          <a:prstGeom prst="line">
            <a:avLst/>
          </a:prstGeom>
          <a:noFill/>
          <a:ln w="12700">
            <a:solidFill>
              <a:srgbClr val="5A2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399032"/>
            <a:ext cx="2185416" cy="1517904"/>
          </a:xfrm>
          <a:prstGeom prst="roundRect">
            <a:avLst>
              <a:gd name="adj" fmla="val 4819"/>
            </a:avLst>
          </a:prstGeom>
          <a:solidFill>
            <a:srgbClr val="120C0E"/>
          </a:solidFill>
          <a:ln w="12700">
            <a:solidFill>
              <a:srgbClr val="5A2630"/>
            </a:solidFill>
            <a:prstDash val="solid"/>
          </a:ln>
        </p:spPr>
      </p:sp>
      <p:pic>
        <p:nvPicPr>
          <p:cNvPr id="6" name="Image 0" descr="/mnt/data/course_screenshots/01_home_16x9_dark.png">    </p:cNvPr>
          <p:cNvPicPr>
            <a:picLocks noChangeAspect="1"/>
          </p:cNvPicPr>
          <p:nvPr/>
        </p:nvPicPr>
        <p:blipFill>
          <a:blip r:embed="rId1"/>
          <a:srcRect l="9221" r="9221" t="0" b="0"/>
          <a:stretch/>
        </p:blipFill>
        <p:spPr>
          <a:xfrm>
            <a:off x="685800" y="1417320"/>
            <a:ext cx="2148840" cy="1481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EFE6"/>
                </a:solidFill>
              </a:rPr>
              <a:t>Главная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5021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DB9AE"/>
                </a:solidFill>
              </a:rPr>
              <a:t>презентация бренда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47872" y="1399032"/>
            <a:ext cx="2185416" cy="1517904"/>
          </a:xfrm>
          <a:prstGeom prst="roundRect">
            <a:avLst>
              <a:gd name="adj" fmla="val 4819"/>
            </a:avLst>
          </a:prstGeom>
          <a:solidFill>
            <a:srgbClr val="120C0E"/>
          </a:solidFill>
          <a:ln w="12700">
            <a:solidFill>
              <a:srgbClr val="5A2630"/>
            </a:solidFill>
            <a:prstDash val="solid"/>
          </a:ln>
        </p:spPr>
      </p:sp>
      <p:pic>
        <p:nvPicPr>
          <p:cNvPr id="10" name="Image 1" descr="/mnt/data/course_screenshots/02_catalog.png">    </p:cNvPr>
          <p:cNvPicPr>
            <a:picLocks noChangeAspect="1"/>
          </p:cNvPicPr>
          <p:nvPr/>
        </p:nvPicPr>
        <p:blipFill>
          <a:blip r:embed="rId2"/>
          <a:srcRect l="2212" r="2212" t="0" b="0"/>
          <a:stretch/>
        </p:blipFill>
        <p:spPr>
          <a:xfrm>
            <a:off x="3566160" y="1417320"/>
            <a:ext cx="2148840" cy="1481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3154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EFE6"/>
                </a:solidFill>
              </a:rPr>
              <a:t>Каталог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66160" y="35021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DB9AE"/>
                </a:solidFill>
              </a:rPr>
              <a:t>товары и фильтры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28232" y="1399032"/>
            <a:ext cx="2185416" cy="1517904"/>
          </a:xfrm>
          <a:prstGeom prst="roundRect">
            <a:avLst>
              <a:gd name="adj" fmla="val 4819"/>
            </a:avLst>
          </a:prstGeom>
          <a:solidFill>
            <a:srgbClr val="120C0E"/>
          </a:solidFill>
          <a:ln w="12700">
            <a:solidFill>
              <a:srgbClr val="5A2630"/>
            </a:solidFill>
            <a:prstDash val="solid"/>
          </a:ln>
        </p:spPr>
      </p:sp>
      <p:pic>
        <p:nvPicPr>
          <p:cNvPr id="14" name="Image 2" descr="/mnt/data/course_screenshots/04_cart.png">    </p:cNvPr>
          <p:cNvPicPr>
            <a:picLocks noChangeAspect="1"/>
          </p:cNvPicPr>
          <p:nvPr/>
        </p:nvPicPr>
        <p:blipFill>
          <a:blip r:embed="rId3"/>
          <a:srcRect l="2212" r="2212" t="0" b="0"/>
          <a:stretch/>
        </p:blipFill>
        <p:spPr>
          <a:xfrm>
            <a:off x="6446520" y="1417320"/>
            <a:ext cx="2148840" cy="1481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154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EFE6"/>
                </a:solidFill>
              </a:rPr>
              <a:t>Корзина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35021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DB9AE"/>
                </a:solidFill>
              </a:rPr>
              <a:t>заказ и сумма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308592" y="1399032"/>
            <a:ext cx="2185416" cy="1517904"/>
          </a:xfrm>
          <a:prstGeom prst="roundRect">
            <a:avLst>
              <a:gd name="adj" fmla="val 4819"/>
            </a:avLst>
          </a:prstGeom>
          <a:solidFill>
            <a:srgbClr val="120C0E"/>
          </a:solidFill>
          <a:ln w="12700">
            <a:solidFill>
              <a:srgbClr val="5A2630"/>
            </a:solidFill>
            <a:prstDash val="solid"/>
          </a:ln>
        </p:spPr>
      </p:sp>
      <p:pic>
        <p:nvPicPr>
          <p:cNvPr id="18" name="Image 3" descr="/mnt/data/course_screenshots/05_contacts.png">    </p:cNvPr>
          <p:cNvPicPr>
            <a:picLocks noChangeAspect="1"/>
          </p:cNvPicPr>
          <p:nvPr/>
        </p:nvPicPr>
        <p:blipFill>
          <a:blip r:embed="rId4"/>
          <a:srcRect l="2212" r="2212" t="0" b="0"/>
          <a:stretch/>
        </p:blipFill>
        <p:spPr>
          <a:xfrm>
            <a:off x="9326880" y="1417320"/>
            <a:ext cx="2148840" cy="1481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0" y="3154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EFE6"/>
                </a:solidFill>
              </a:rPr>
              <a:t>Контакты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326880" y="35021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DB9AE"/>
                </a:solidFill>
              </a:rPr>
              <a:t>связь и адрес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1143000" y="46177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344168" y="4782312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Папки проекта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44168" y="5184648"/>
            <a:ext cx="4261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css/style.css - внешний вид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js/data.js - список товаров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js/app.js - логика интерфейса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images/ - изображения сайта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0" y="46177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601968" y="4782312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Почему структура удобная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601968" y="5184648"/>
            <a:ext cx="4261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файлы разделены по назначению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легко объяснить каждый модуль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можно расширять каталог без переписывания страниц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EF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Использованные технологии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B9AE"/>
                </a:solidFill>
              </a:rPr>
              <a:t>Проект выполнен на базовых фронтенд-технологиях без backend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72800" cy="0"/>
          </a:xfrm>
          <a:prstGeom prst="line">
            <a:avLst/>
          </a:prstGeom>
          <a:noFill/>
          <a:ln w="12700">
            <a:solidFill>
              <a:srgbClr val="5A2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62472" y="1216152"/>
            <a:ext cx="5477256" cy="4014216"/>
          </a:xfrm>
          <a:prstGeom prst="roundRect">
            <a:avLst>
              <a:gd name="adj" fmla="val 1822"/>
            </a:avLst>
          </a:prstGeom>
          <a:solidFill>
            <a:srgbClr val="120C0E"/>
          </a:solidFill>
          <a:ln w="12700">
            <a:solidFill>
              <a:srgbClr val="5A2630"/>
            </a:solidFill>
            <a:prstDash val="solid"/>
          </a:ln>
        </p:spPr>
      </p:sp>
      <p:pic>
        <p:nvPicPr>
          <p:cNvPr id="6" name="Image 0" descr="/mnt/data/course_screenshots/02_catalog.png">    </p:cNvPr>
          <p:cNvPicPr>
            <a:picLocks noChangeAspect="1"/>
          </p:cNvPicPr>
          <p:nvPr/>
        </p:nvPicPr>
        <p:blipFill>
          <a:blip r:embed="rId1"/>
          <a:srcRect l="4940" r="4940" t="0" b="0"/>
          <a:stretch/>
        </p:blipFill>
        <p:spPr>
          <a:xfrm>
            <a:off x="6080760" y="1234440"/>
            <a:ext cx="544068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1261872"/>
            <a:ext cx="4709160" cy="1170432"/>
          </a:xfrm>
          <a:prstGeom prst="roundRect">
            <a:avLst>
              <a:gd name="adj" fmla="val 6250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426464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HTML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0976" y="1828800"/>
            <a:ext cx="4306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структура страниц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семантические блоки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формы и навигация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9808" y="2761488"/>
            <a:ext cx="4709160" cy="1170432"/>
          </a:xfrm>
          <a:prstGeom prst="roundRect">
            <a:avLst>
              <a:gd name="adj" fmla="val 6250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" y="2926080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CSS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50976" y="3328416"/>
            <a:ext cx="4306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общий визуальный стиль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адаптивная сетка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оформление карточек и кнопок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" y="4261104"/>
            <a:ext cx="4709160" cy="1170432"/>
          </a:xfrm>
          <a:prstGeom prst="roundRect">
            <a:avLst>
              <a:gd name="adj" fmla="val 6250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0976" y="4425696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50976" y="4828032"/>
            <a:ext cx="4306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вывод товаров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поиск, фильтрация и сортировка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корзина и localStorage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80760" y="548640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DB9AE"/>
                </a:solidFill>
              </a:rPr>
              <a:t>Сайт не использует серверную часть, поэтому вся интерактивность реализована средствами браузера.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EF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функции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B9AE"/>
                </a:solidFill>
              </a:rPr>
              <a:t>Интерактивность сайта реализована через JavaScript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72800" cy="0"/>
          </a:xfrm>
          <a:prstGeom prst="line">
            <a:avLst/>
          </a:prstGeom>
          <a:noFill/>
          <a:ln w="12700">
            <a:solidFill>
              <a:srgbClr val="5A2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289304"/>
            <a:ext cx="5340096" cy="3328416"/>
          </a:xfrm>
          <a:prstGeom prst="roundRect">
            <a:avLst>
              <a:gd name="adj" fmla="val 2198"/>
            </a:avLst>
          </a:prstGeom>
          <a:solidFill>
            <a:srgbClr val="120C0E"/>
          </a:solidFill>
          <a:ln w="12700">
            <a:solidFill>
              <a:srgbClr val="5A2630"/>
            </a:solidFill>
            <a:prstDash val="solid"/>
          </a:ln>
        </p:spPr>
      </p:sp>
      <p:pic>
        <p:nvPicPr>
          <p:cNvPr id="6" name="Image 0" descr="/mnt/data/course_screenshots/03_catalog_search.png">    </p:cNvPr>
          <p:cNvPicPr>
            <a:picLocks noChangeAspect="1"/>
          </p:cNvPicPr>
          <p:nvPr/>
        </p:nvPicPr>
        <p:blipFill>
          <a:blip r:embed="rId1"/>
          <a:srcRect l="0" r="0" t="2897" b="2897"/>
          <a:stretch/>
        </p:blipFill>
        <p:spPr>
          <a:xfrm>
            <a:off x="713232" y="1307592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81344" y="1289304"/>
            <a:ext cx="5340096" cy="3328416"/>
          </a:xfrm>
          <a:prstGeom prst="roundRect">
            <a:avLst>
              <a:gd name="adj" fmla="val 2198"/>
            </a:avLst>
          </a:prstGeom>
          <a:solidFill>
            <a:srgbClr val="120C0E"/>
          </a:solidFill>
          <a:ln w="12700">
            <a:solidFill>
              <a:srgbClr val="5A2630"/>
            </a:solidFill>
            <a:prstDash val="solid"/>
          </a:ln>
        </p:spPr>
      </p:sp>
      <p:pic>
        <p:nvPicPr>
          <p:cNvPr id="8" name="Image 1" descr="/mnt/data/course_screenshots/04_cart.png">    </p:cNvPr>
          <p:cNvPicPr>
            <a:picLocks noChangeAspect="1"/>
          </p:cNvPicPr>
          <p:nvPr/>
        </p:nvPicPr>
        <p:blipFill>
          <a:blip r:embed="rId2"/>
          <a:srcRect l="0" r="0" t="2897" b="2897"/>
          <a:stretch/>
        </p:blipFill>
        <p:spPr>
          <a:xfrm>
            <a:off x="6199632" y="1307592"/>
            <a:ext cx="5303520" cy="3291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" y="491947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5084064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Каталог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5486400"/>
            <a:ext cx="2935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поиск по названию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фильтр по категориям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сортировка товаров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407408" y="491947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8576" y="5084064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Корзина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08576" y="5486400"/>
            <a:ext cx="2935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добавление товаров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изменение количества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подсчёт суммы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491947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211517">
              <a:alpha val="97000"/>
            </a:srgbClr>
          </a:solidFill>
          <a:ln w="12700">
            <a:solidFill>
              <a:srgbClr val="5A2630">
                <a:alpha val="8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02752" y="5084064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EFE6"/>
                </a:solidFill>
              </a:rPr>
              <a:t>Заказ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302752" y="5486400"/>
            <a:ext cx="2935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CDB9AE"/>
                </a:solidFill>
              </a:rPr>
              <a:t>проверка формы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контактные данные клиента</a:t>
            </a:r>
            <a:endParaRPr lang="en-US" sz="1050" dirty="0"/>
          </a:p>
          <a:p>
            <a:r>
              <a:rPr lang="en-US" sz="1050" dirty="0">
                <a:solidFill>
                  <a:srgbClr val="CDB9AE"/>
                </a:solidFill>
              </a:rPr>
              <a:t>очистка корзины после отправки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21440" cy="25400"/>
          </a:xfrm>
          <a:prstGeom prst="rect">
            <a:avLst/>
          </a:prstGeom>
          <a:solidFill>
            <a:srgbClr val="E2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375B"/>
                </a:solidFill>
              </a:rPr>
              <a:t>ФРАГМЕНТ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FF7ED"/>
                </a:solidFill>
              </a:rPr>
              <a:t>HTML: базовая структура страницы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789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B8AAA3"/>
                </a:solidFill>
              </a:rPr>
              <a:t>Показываем подключение CSS, data.js и app.js, а также шапку и навигацию сайта.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73352"/>
            <a:ext cx="6903720" cy="4251959"/>
          </a:xfrm>
          <a:prstGeom prst="roundRect">
            <a:avLst/>
          </a:prstGeom>
          <a:solidFill>
            <a:srgbClr val="0C1016"/>
          </a:solidFill>
          <a:ln w="12700">
            <a:solidFill>
              <a:srgbClr val="28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10512"/>
            <a:ext cx="6629400" cy="3977639"/>
          </a:xfrm>
          <a:prstGeom prst="roundRect">
            <a:avLst/>
          </a:prstGeom>
          <a:solidFill>
            <a:srgbClr val="090D12"/>
          </a:solidFill>
          <a:ln w="22860">
            <a:solidFill>
              <a:srgbClr val="E2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400" b="1">
                <a:solidFill>
                  <a:srgbClr val="FFF7ED"/>
                </a:solidFill>
              </a:rPr>
              <a:t>СКРИН 1</a:t>
            </a:r>
          </a:p>
          <a:p>
            <a:pPr algn="ctr"/>
            <a:r>
              <a:rPr sz="1600">
                <a:solidFill>
                  <a:srgbClr val="B8AAA3"/>
                </a:solidFill>
              </a:rPr>
              <a:t>index.html · строки 1–40</a:t>
            </a:r>
          </a:p>
          <a:p>
            <a:pPr algn="ctr"/>
            <a:r>
              <a:rPr sz="1300" i="1">
                <a:solidFill>
                  <a:srgbClr val="D7A85D"/>
                </a:solidFill>
              </a:rPr>
              <a:t>сюда вставить скрин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719072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847088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E2375B"/>
                </a:solidFill>
              </a:rPr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139696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meta, title, icon
CSS и JS-файлы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962656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3090672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D7A85D"/>
                </a:solidFill>
              </a:rPr>
              <a:t>header/nav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3383280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логотип, меню
переходы между страницами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206240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4334256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CAE67"/>
                </a:solidFill>
              </a:rPr>
              <a:t>data-page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4626864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помогает JS понять
какая страница открыта</a:t>
            </a:r>
          </a:p>
        </p:txBody>
      </p:sp>
      <p:pic>
        <p:nvPicPr>
          <p:cNvPr id="18" name="Picture 17" descr="89c4bee9-e52d-4cc3-84d7-df594a2996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036" y="1855512"/>
            <a:ext cx="5642927" cy="3887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21440" cy="25400"/>
          </a:xfrm>
          <a:prstGeom prst="rect">
            <a:avLst/>
          </a:prstGeom>
          <a:solidFill>
            <a:srgbClr val="E2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375B"/>
                </a:solidFill>
              </a:rPr>
              <a:t>ФРАГМЕНТ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FF7ED"/>
                </a:solidFill>
              </a:rPr>
              <a:t>HTML: структура каталога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789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B8AAA3"/>
                </a:solidFill>
              </a:rPr>
              <a:t>Этот фрагмент показывает элементы, через которые пользователь ищет, сортирует и фильтрует товары.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73352"/>
            <a:ext cx="6903720" cy="4251959"/>
          </a:xfrm>
          <a:prstGeom prst="roundRect">
            <a:avLst/>
          </a:prstGeom>
          <a:solidFill>
            <a:srgbClr val="0C1016"/>
          </a:solidFill>
          <a:ln w="12700">
            <a:solidFill>
              <a:srgbClr val="28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10512"/>
            <a:ext cx="6629400" cy="3977639"/>
          </a:xfrm>
          <a:prstGeom prst="roundRect">
            <a:avLst/>
          </a:prstGeom>
          <a:solidFill>
            <a:srgbClr val="090D12"/>
          </a:solidFill>
          <a:ln w="22860">
            <a:solidFill>
              <a:srgbClr val="E2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400" b="1">
                <a:solidFill>
                  <a:srgbClr val="FFF7ED"/>
                </a:solidFill>
              </a:rPr>
              <a:t>СКРИН 2</a:t>
            </a:r>
          </a:p>
          <a:p>
            <a:pPr algn="ctr"/>
            <a:r>
              <a:rPr sz="1600">
                <a:solidFill>
                  <a:srgbClr val="B8AAA3"/>
                </a:solidFill>
              </a:rPr>
              <a:t>catalog.html · строки 50–83</a:t>
            </a:r>
          </a:p>
          <a:p>
            <a:pPr algn="ctr"/>
            <a:r>
              <a:rPr sz="1300" i="1">
                <a:solidFill>
                  <a:srgbClr val="D7A85D"/>
                </a:solidFill>
              </a:rPr>
              <a:t>сюда вставить скрин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719072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847088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E2375B"/>
                </a:solidFill>
              </a:rPr>
              <a:t>Поиск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139696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data-search-input
ввод названия товара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962656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3090672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D7A85D"/>
                </a:solidFill>
              </a:rPr>
              <a:t>Сортировка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3383280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data-sort-select
порядок отображения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206240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4334256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CAE67"/>
                </a:solidFill>
              </a:rPr>
              <a:t>Контейнер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4626864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data-products-grid
сюда JS вставляет карточки</a:t>
            </a:r>
          </a:p>
        </p:txBody>
      </p:sp>
      <p:pic>
        <p:nvPicPr>
          <p:cNvPr id="18" name="Picture 17" descr="c1080606-8897-45bd-8d76-abd753f630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240" y="1855512"/>
            <a:ext cx="4366519" cy="3887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21440" cy="25400"/>
          </a:xfrm>
          <a:prstGeom prst="rect">
            <a:avLst/>
          </a:prstGeom>
          <a:solidFill>
            <a:srgbClr val="E2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375B"/>
                </a:solidFill>
              </a:rPr>
              <a:t>ФРАГМЕНТ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FF7ED"/>
                </a:solidFill>
              </a:rPr>
              <a:t>Данные каталога: data.js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789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B8AAA3"/>
                </a:solidFill>
              </a:rPr>
              <a:t>Список товаров вынесен отдельно от логики, чтобы его было проще изменять и дополнять.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73352"/>
            <a:ext cx="6903720" cy="4251959"/>
          </a:xfrm>
          <a:prstGeom prst="roundRect">
            <a:avLst/>
          </a:prstGeom>
          <a:solidFill>
            <a:srgbClr val="0C1016"/>
          </a:solidFill>
          <a:ln w="12700">
            <a:solidFill>
              <a:srgbClr val="28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10512"/>
            <a:ext cx="6629400" cy="3977639"/>
          </a:xfrm>
          <a:prstGeom prst="roundRect">
            <a:avLst/>
          </a:prstGeom>
          <a:solidFill>
            <a:srgbClr val="090D12"/>
          </a:solidFill>
          <a:ln w="22860">
            <a:solidFill>
              <a:srgbClr val="E2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400" b="1">
                <a:solidFill>
                  <a:srgbClr val="FFF7ED"/>
                </a:solidFill>
              </a:rPr>
              <a:t>СКРИН 3</a:t>
            </a:r>
          </a:p>
          <a:p>
            <a:pPr algn="ctr"/>
            <a:r>
              <a:rPr sz="1600">
                <a:solidFill>
                  <a:srgbClr val="B8AAA3"/>
                </a:solidFill>
              </a:rPr>
              <a:t>js/data.js · строки 1–35</a:t>
            </a:r>
          </a:p>
          <a:p>
            <a:pPr algn="ctr"/>
            <a:r>
              <a:rPr sz="1300" i="1">
                <a:solidFill>
                  <a:srgbClr val="D7A85D"/>
                </a:solidFill>
              </a:rPr>
              <a:t>сюда вставить скрин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719072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847088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E2375B"/>
                </a:solidFill>
              </a:rP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139696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массив объектов
каждый объект = товар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962656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3090672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D7A85D"/>
                </a:solidFill>
              </a:rPr>
              <a:t>Поля товара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3383280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id, name, category,
price, image, 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206240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4334256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CAE67"/>
                </a:solidFill>
              </a:rPr>
              <a:t>Связь с app.js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4626864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логика сайта берёт
товары из PRODUCTS</a:t>
            </a:r>
          </a:p>
        </p:txBody>
      </p:sp>
      <p:pic>
        <p:nvPicPr>
          <p:cNvPr id="18" name="Picture 17" descr="69b7ce7e-3406-49f9-9f96-77de9943e9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31" y="1855512"/>
            <a:ext cx="5013137" cy="3887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21440" cy="25400"/>
          </a:xfrm>
          <a:prstGeom prst="rect">
            <a:avLst/>
          </a:prstGeom>
          <a:solidFill>
            <a:srgbClr val="E2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375B"/>
                </a:solidFill>
              </a:rPr>
              <a:t>ФРАГМЕНТ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FF7ED"/>
                </a:solidFill>
              </a:rPr>
              <a:t>JavaScript: поиск и фильтрация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789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B8AAA3"/>
                </a:solidFill>
              </a:rPr>
              <a:t>Функции выбирают нужные товары и заново выводят карточки каталога без перезагрузки страницы.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73352"/>
            <a:ext cx="6903720" cy="4251959"/>
          </a:xfrm>
          <a:prstGeom prst="roundRect">
            <a:avLst/>
          </a:prstGeom>
          <a:solidFill>
            <a:srgbClr val="0C1016"/>
          </a:solidFill>
          <a:ln w="12700">
            <a:solidFill>
              <a:srgbClr val="28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10512"/>
            <a:ext cx="6629400" cy="3977639"/>
          </a:xfrm>
          <a:prstGeom prst="roundRect">
            <a:avLst/>
          </a:prstGeom>
          <a:solidFill>
            <a:srgbClr val="090D12"/>
          </a:solidFill>
          <a:ln w="22860">
            <a:solidFill>
              <a:srgbClr val="E2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400" b="1">
                <a:solidFill>
                  <a:srgbClr val="FFF7ED"/>
                </a:solidFill>
              </a:rPr>
              <a:t>СКРИН 4</a:t>
            </a:r>
          </a:p>
          <a:p>
            <a:pPr algn="ctr"/>
            <a:r>
              <a:rPr sz="1600">
                <a:solidFill>
                  <a:srgbClr val="B8AAA3"/>
                </a:solidFill>
              </a:rPr>
              <a:t>js/app.js · строки 110–158</a:t>
            </a:r>
          </a:p>
          <a:p>
            <a:pPr algn="ctr"/>
            <a:r>
              <a:rPr sz="1300" i="1">
                <a:solidFill>
                  <a:srgbClr val="D7A85D"/>
                </a:solidFill>
              </a:rPr>
              <a:t>сюда вставить скрин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719072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847088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E2375B"/>
                </a:solidFill>
              </a:rPr>
              <a:t>Фильтрация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2139696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оставляет товары
выбранной категории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962656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3090672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D7A85D"/>
                </a:solidFill>
              </a:rPr>
              <a:t>Поиск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3383280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сравнивает запрос
с названием и описанием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206240"/>
            <a:ext cx="3246120" cy="987552"/>
          </a:xfrm>
          <a:prstGeom prst="roundRect">
            <a:avLst/>
          </a:prstGeom>
          <a:solidFill>
            <a:srgbClr val="201216"/>
          </a:solidFill>
          <a:ln w="12700">
            <a:solidFill>
              <a:srgbClr val="56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4334256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CAE67"/>
                </a:solidFill>
              </a:rPr>
              <a:t>Сортировка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4626864"/>
            <a:ext cx="2926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FFF7ED"/>
                </a:solidFill>
              </a:rPr>
              <a:t>упорядочивает по цене
или названию</a:t>
            </a:r>
          </a:p>
        </p:txBody>
      </p:sp>
      <p:pic>
        <p:nvPicPr>
          <p:cNvPr id="18" name="Picture 17" descr="aac43b5e-a8e5-4eaa-bae5-dc306ffd1f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486" y="1855512"/>
            <a:ext cx="3202028" cy="38876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7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5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521440" cy="25400"/>
          </a:xfrm>
          <a:prstGeom prst="rect">
            <a:avLst/>
          </a:prstGeom>
          <a:solidFill>
            <a:srgbClr val="E2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E2375B"/>
                </a:solidFill>
              </a:rPr>
              <a:t>ФРАГМЕНТ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FF7ED"/>
                </a:solidFill>
              </a:rPr>
              <a:t>JavaScript: корзина и оформление заказа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789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B8AAA3"/>
                </a:solidFill>
              </a:rPr>
              <a:t>Показываем хранение корзины в localStorage и проверку формы заказа перед отправкой.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63624"/>
            <a:ext cx="5715000" cy="4251959"/>
          </a:xfrm>
          <a:prstGeom prst="roundRect">
            <a:avLst/>
          </a:prstGeom>
          <a:solidFill>
            <a:srgbClr val="0C1016"/>
          </a:solidFill>
          <a:ln w="12700">
            <a:solidFill>
              <a:srgbClr val="28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700784"/>
            <a:ext cx="5440680" cy="3977639"/>
          </a:xfrm>
          <a:prstGeom prst="roundRect">
            <a:avLst/>
          </a:prstGeom>
          <a:solidFill>
            <a:srgbClr val="090D12"/>
          </a:solidFill>
          <a:ln w="22860">
            <a:solidFill>
              <a:srgbClr val="E2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400" b="1">
                <a:solidFill>
                  <a:srgbClr val="FFF7ED"/>
                </a:solidFill>
              </a:rPr>
              <a:t>СКРИН 5</a:t>
            </a:r>
          </a:p>
          <a:p>
            <a:pPr algn="ctr"/>
            <a:r>
              <a:rPr sz="1600">
                <a:solidFill>
                  <a:srgbClr val="B8AAA3"/>
                </a:solidFill>
              </a:rPr>
              <a:t>js/app.js · строки 1–65</a:t>
            </a:r>
          </a:p>
          <a:p>
            <a:pPr algn="ctr"/>
            <a:r>
              <a:rPr sz="1300" i="1">
                <a:solidFill>
                  <a:srgbClr val="D7A85D"/>
                </a:solidFill>
              </a:rPr>
              <a:t>сюда вставить скрин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63624"/>
            <a:ext cx="5440680" cy="4251959"/>
          </a:xfrm>
          <a:prstGeom prst="roundRect">
            <a:avLst/>
          </a:prstGeom>
          <a:solidFill>
            <a:srgbClr val="0C1016"/>
          </a:solidFill>
          <a:ln w="12700">
            <a:solidFill>
              <a:srgbClr val="28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700784"/>
            <a:ext cx="5166360" cy="3977639"/>
          </a:xfrm>
          <a:prstGeom prst="roundRect">
            <a:avLst/>
          </a:prstGeom>
          <a:solidFill>
            <a:srgbClr val="090D12"/>
          </a:solidFill>
          <a:ln w="22860">
            <a:solidFill>
              <a:srgbClr val="E2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2400" b="1">
                <a:solidFill>
                  <a:srgbClr val="FFF7ED"/>
                </a:solidFill>
              </a:rPr>
              <a:t>СКРИН 6</a:t>
            </a:r>
          </a:p>
          <a:p>
            <a:pPr algn="ctr"/>
            <a:r>
              <a:rPr sz="1600">
                <a:solidFill>
                  <a:srgbClr val="B8AAA3"/>
                </a:solidFill>
              </a:rPr>
              <a:t>js/app.js · строки 285–313</a:t>
            </a:r>
          </a:p>
          <a:p>
            <a:pPr algn="ctr"/>
            <a:r>
              <a:rPr sz="1300" i="1">
                <a:solidFill>
                  <a:srgbClr val="D7A85D"/>
                </a:solidFill>
              </a:rPr>
              <a:t>сюда вставить скрин кода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51663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0">
                <a:solidFill>
                  <a:srgbClr val="B8AAA3"/>
                </a:solidFill>
              </a:rPr>
              <a:t>Слева: функции getCart(), saveCart(), addToCart() и изменение количества товаров.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806440"/>
            <a:ext cx="5029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0">
                <a:solidFill>
                  <a:srgbClr val="B8AAA3"/>
                </a:solidFill>
              </a:rPr>
              <a:t>Справа: проверка формы, сообщение об успешном заказе и очистка корзины.</a:t>
            </a:r>
          </a:p>
        </p:txBody>
      </p:sp>
      <p:pic>
        <p:nvPicPr>
          <p:cNvPr id="13" name="Picture 12" descr="app_cart_1_65_genera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8625" y="1745784"/>
            <a:ext cx="2612150" cy="3887638"/>
          </a:xfrm>
          <a:prstGeom prst="rect">
            <a:avLst/>
          </a:prstGeom>
        </p:spPr>
      </p:pic>
      <p:pic>
        <p:nvPicPr>
          <p:cNvPr id="14" name="Picture 13" descr="19f67d27-374b-4aeb-aad0-9acd311835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192" y="1745784"/>
            <a:ext cx="4870136" cy="3887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ASOIU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 Patisserie</dc:title>
  <dc:subject>Курсовая работа по Веб-системам и технологиям</dc:subject>
  <dc:creator>Керимов Камиль</dc:creator>
  <cp:lastModifiedBy>Керимов Камиль</cp:lastModifiedBy>
  <cp:revision>1</cp:revision>
  <dcterms:created xsi:type="dcterms:W3CDTF">2026-05-10T12:30:49Z</dcterms:created>
  <dcterms:modified xsi:type="dcterms:W3CDTF">2026-05-10T12:30:49Z</dcterms:modified>
</cp:coreProperties>
</file>