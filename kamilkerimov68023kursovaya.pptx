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hero_bg_16x9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694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C37D"/>
                </a:solidFill>
              </a:rPr>
              <a:t>КУРСОВАЯ РАБОТА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621792" y="1170432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8EF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Nar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8EF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Patisserie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58368" y="299923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8EFE6"/>
                </a:solidFill>
              </a:rPr>
              <a:t>Разработка онлайн информационной системы для кондитерских магазинов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58368" y="37307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DB9AE"/>
                </a:solidFill>
              </a:rPr>
              <a:t>Веб-системы и технологии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524865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8EFE6"/>
                </a:solidFill>
              </a:rPr>
              <a:t>Студент: Керимов Камиль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8EFE6"/>
                </a:solidFill>
              </a:rPr>
              <a:t>Группа: 680.23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8EFE6"/>
                </a:solidFill>
              </a:rPr>
              <a:t>Проверили: Халилов Матлаб, Алиев Джамиль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966960" y="6291072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DB9AE"/>
                </a:solidFill>
              </a:rPr>
              <a:t>Баку - 2026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EF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Цель проекта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70408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DB9AE"/>
                </a:solidFill>
              </a:rPr>
              <a:t>Создать понятную информационную систему для кондитерского магазина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94360" y="987552"/>
            <a:ext cx="10972800" cy="0"/>
          </a:xfrm>
          <a:prstGeom prst="line">
            <a:avLst/>
          </a:prstGeom>
          <a:noFill/>
          <a:ln w="12700">
            <a:solidFill>
              <a:srgbClr val="5A26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280160"/>
            <a:ext cx="5705856" cy="3785616"/>
          </a:xfrm>
          <a:prstGeom prst="roundRect">
            <a:avLst>
              <a:gd name="adj" fmla="val 1932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6" name="Image 0" descr="/mnt/data/course_screenshots/01_home_16x9_dark.png">    </p:cNvPr>
          <p:cNvPicPr>
            <a:picLocks noChangeAspect="1"/>
          </p:cNvPicPr>
          <p:nvPr/>
        </p:nvPicPr>
        <p:blipFill>
          <a:blip r:embed="rId1"/>
          <a:srcRect l="7490" r="7490" t="0" b="0"/>
          <a:stretch/>
        </p:blipFill>
        <p:spPr>
          <a:xfrm>
            <a:off x="685800" y="1298448"/>
            <a:ext cx="5669280" cy="3749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2084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C37D"/>
                </a:solidFill>
              </a:rPr>
              <a:t>ОСНОВНАЯ ИДЕЯ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6720840" y="1645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8EFE6"/>
                </a:solidFill>
              </a:rPr>
              <a:t>Сайт помогает клиенту быстро посмотреть ассортимент, выбрать десерты и оформить заказ без лишней сложности.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720840" y="2761488"/>
            <a:ext cx="4617720" cy="1417320"/>
          </a:xfrm>
          <a:prstGeom prst="roundRect">
            <a:avLst>
              <a:gd name="adj" fmla="val 5161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22008" y="2926080"/>
            <a:ext cx="4215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Что решает сайт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22008" y="3328416"/>
            <a:ext cx="4215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показывает меню и категории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упрощает выбор товаров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собирает заказ через форму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720840" y="4407408"/>
            <a:ext cx="4617720" cy="1417320"/>
          </a:xfrm>
          <a:prstGeom prst="roundRect">
            <a:avLst>
              <a:gd name="adj" fmla="val 5161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22008" y="4572000"/>
            <a:ext cx="4215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Ограничение проекта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922008" y="4974336"/>
            <a:ext cx="42153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без серверной части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вся логика на стороне клиента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данные хранятся в JS-файлах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EF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Структура сайта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70408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DB9AE"/>
                </a:solidFill>
              </a:rPr>
              <a:t>Проект состоит из четырёх основных HTML-страниц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94360" y="987552"/>
            <a:ext cx="10972800" cy="0"/>
          </a:xfrm>
          <a:prstGeom prst="line">
            <a:avLst/>
          </a:prstGeom>
          <a:noFill/>
          <a:ln w="12700">
            <a:solidFill>
              <a:srgbClr val="5A26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399032"/>
            <a:ext cx="2185416" cy="1517904"/>
          </a:xfrm>
          <a:prstGeom prst="roundRect">
            <a:avLst>
              <a:gd name="adj" fmla="val 4819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6" name="Image 0" descr="/mnt/data/course_screenshots/01_home_16x9_dark.png">    </p:cNvPr>
          <p:cNvPicPr>
            <a:picLocks noChangeAspect="1"/>
          </p:cNvPicPr>
          <p:nvPr/>
        </p:nvPicPr>
        <p:blipFill>
          <a:blip r:embed="rId1"/>
          <a:srcRect l="9221" r="9221" t="0" b="0"/>
          <a:stretch/>
        </p:blipFill>
        <p:spPr>
          <a:xfrm>
            <a:off x="685800" y="1417320"/>
            <a:ext cx="2148840" cy="1481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15468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EFE6"/>
                </a:solidFill>
              </a:rPr>
              <a:t>Главная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3502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DB9AE"/>
                </a:solidFill>
              </a:rPr>
              <a:t>презентация бренда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47872" y="1399032"/>
            <a:ext cx="2185416" cy="1517904"/>
          </a:xfrm>
          <a:prstGeom prst="roundRect">
            <a:avLst>
              <a:gd name="adj" fmla="val 4819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10" name="Image 1" descr="/mnt/data/course_screenshots/02_catalog.png">    </p:cNvPr>
          <p:cNvPicPr>
            <a:picLocks noChangeAspect="1"/>
          </p:cNvPicPr>
          <p:nvPr/>
        </p:nvPicPr>
        <p:blipFill>
          <a:blip r:embed="rId2"/>
          <a:srcRect l="2212" r="2212" t="0" b="0"/>
          <a:stretch/>
        </p:blipFill>
        <p:spPr>
          <a:xfrm>
            <a:off x="3566160" y="1417320"/>
            <a:ext cx="2148840" cy="14813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66160" y="315468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EFE6"/>
                </a:solidFill>
              </a:rPr>
              <a:t>Каталог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566160" y="3502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DB9AE"/>
                </a:solidFill>
              </a:rPr>
              <a:t>товары и фильтры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428232" y="1399032"/>
            <a:ext cx="2185416" cy="1517904"/>
          </a:xfrm>
          <a:prstGeom prst="roundRect">
            <a:avLst>
              <a:gd name="adj" fmla="val 4819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14" name="Image 2" descr="/mnt/data/course_screenshots/04_cart.png">    </p:cNvPr>
          <p:cNvPicPr>
            <a:picLocks noChangeAspect="1"/>
          </p:cNvPicPr>
          <p:nvPr/>
        </p:nvPicPr>
        <p:blipFill>
          <a:blip r:embed="rId3"/>
          <a:srcRect l="2212" r="2212" t="0" b="0"/>
          <a:stretch/>
        </p:blipFill>
        <p:spPr>
          <a:xfrm>
            <a:off x="6446520" y="1417320"/>
            <a:ext cx="2148840" cy="14813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46520" y="315468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EFE6"/>
                </a:solidFill>
              </a:rPr>
              <a:t>Корзина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446520" y="3502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DB9AE"/>
                </a:solidFill>
              </a:rPr>
              <a:t>заказ и сумма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308592" y="1399032"/>
            <a:ext cx="2185416" cy="1517904"/>
          </a:xfrm>
          <a:prstGeom prst="roundRect">
            <a:avLst>
              <a:gd name="adj" fmla="val 4819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18" name="Image 3" descr="/mnt/data/course_screenshots/05_contacts.png">    </p:cNvPr>
          <p:cNvPicPr>
            <a:picLocks noChangeAspect="1"/>
          </p:cNvPicPr>
          <p:nvPr/>
        </p:nvPicPr>
        <p:blipFill>
          <a:blip r:embed="rId4"/>
          <a:srcRect l="2212" r="2212" t="0" b="0"/>
          <a:stretch/>
        </p:blipFill>
        <p:spPr>
          <a:xfrm>
            <a:off x="9326880" y="1417320"/>
            <a:ext cx="2148840" cy="148132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326880" y="315468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EFE6"/>
                </a:solidFill>
              </a:rPr>
              <a:t>Контакты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9326880" y="350215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DB9AE"/>
                </a:solidFill>
              </a:rPr>
              <a:t>связь и адрес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1143000" y="4617720"/>
            <a:ext cx="4663440" cy="1417320"/>
          </a:xfrm>
          <a:prstGeom prst="roundRect">
            <a:avLst>
              <a:gd name="adj" fmla="val 5161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1344168" y="4782312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Папки проекта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344168" y="5184648"/>
            <a:ext cx="4261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css/style.css - внешний вид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js/data.js - список товаров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js/app.js - логика интерфейса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images/ - изображения сайта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400800" y="4617720"/>
            <a:ext cx="4663440" cy="1417320"/>
          </a:xfrm>
          <a:prstGeom prst="roundRect">
            <a:avLst>
              <a:gd name="adj" fmla="val 5161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601968" y="4782312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Почему структура удобная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6601968" y="5184648"/>
            <a:ext cx="4261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файлы разделены по назначению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легко объяснить каждый модуль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можно расширять каталог без переписывания страниц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EF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Использованные технологии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70408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DB9AE"/>
                </a:solidFill>
              </a:rPr>
              <a:t>Проект выполнен на базовых фронтенд-технологиях без backend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94360" y="987552"/>
            <a:ext cx="10972800" cy="0"/>
          </a:xfrm>
          <a:prstGeom prst="line">
            <a:avLst/>
          </a:prstGeom>
          <a:noFill/>
          <a:ln w="12700">
            <a:solidFill>
              <a:srgbClr val="5A26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62472" y="1216152"/>
            <a:ext cx="5477256" cy="4014216"/>
          </a:xfrm>
          <a:prstGeom prst="roundRect">
            <a:avLst>
              <a:gd name="adj" fmla="val 1822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6" name="Image 0" descr="/mnt/data/course_screenshots/02_catalog.png">    </p:cNvPr>
          <p:cNvPicPr>
            <a:picLocks noChangeAspect="1"/>
          </p:cNvPicPr>
          <p:nvPr/>
        </p:nvPicPr>
        <p:blipFill>
          <a:blip r:embed="rId1"/>
          <a:srcRect l="4940" r="4940" t="0" b="0"/>
          <a:stretch/>
        </p:blipFill>
        <p:spPr>
          <a:xfrm>
            <a:off x="6080760" y="1234440"/>
            <a:ext cx="5440680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261872"/>
            <a:ext cx="4709160" cy="1170432"/>
          </a:xfrm>
          <a:prstGeom prst="roundRect">
            <a:avLst>
              <a:gd name="adj" fmla="val 6250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50976" y="1426464"/>
            <a:ext cx="4306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HTML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1828800"/>
            <a:ext cx="4306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структура страниц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семантические блоки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формы и навигация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49808" y="2761488"/>
            <a:ext cx="4709160" cy="1170432"/>
          </a:xfrm>
          <a:prstGeom prst="roundRect">
            <a:avLst>
              <a:gd name="adj" fmla="val 6250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50976" y="2926080"/>
            <a:ext cx="4306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CSS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50976" y="3328416"/>
            <a:ext cx="4306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общий визуальный стиль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адаптивная сетка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оформление карточек и кнопок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9808" y="4261104"/>
            <a:ext cx="4709160" cy="1170432"/>
          </a:xfrm>
          <a:prstGeom prst="roundRect">
            <a:avLst>
              <a:gd name="adj" fmla="val 6250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50976" y="4425696"/>
            <a:ext cx="4306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JavaScript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50976" y="4828032"/>
            <a:ext cx="43068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вывод товаров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поиск, фильтрация и сортировка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корзина и localStorage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080760" y="5486400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CDB9AE"/>
                </a:solidFill>
              </a:rPr>
              <a:t>Сайт не использует серверную часть, поэтому вся интерактивность реализована средствами браузера.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EF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Основные функции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70408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DB9AE"/>
                </a:solidFill>
              </a:rPr>
              <a:t>Интерактивность сайта реализована через JavaScript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94360" y="987552"/>
            <a:ext cx="10972800" cy="0"/>
          </a:xfrm>
          <a:prstGeom prst="line">
            <a:avLst/>
          </a:prstGeom>
          <a:noFill/>
          <a:ln w="12700">
            <a:solidFill>
              <a:srgbClr val="5A26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289304"/>
            <a:ext cx="5340096" cy="3328416"/>
          </a:xfrm>
          <a:prstGeom prst="roundRect">
            <a:avLst>
              <a:gd name="adj" fmla="val 2198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6" name="Image 0" descr="/mnt/data/course_screenshots/03_catalog_search.png">    </p:cNvPr>
          <p:cNvPicPr>
            <a:picLocks noChangeAspect="1"/>
          </p:cNvPicPr>
          <p:nvPr/>
        </p:nvPicPr>
        <p:blipFill>
          <a:blip r:embed="rId1"/>
          <a:srcRect l="0" r="0" t="2897" b="2897"/>
          <a:stretch/>
        </p:blipFill>
        <p:spPr>
          <a:xfrm>
            <a:off x="713232" y="1307592"/>
            <a:ext cx="530352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181344" y="1289304"/>
            <a:ext cx="5340096" cy="3328416"/>
          </a:xfrm>
          <a:prstGeom prst="roundRect">
            <a:avLst>
              <a:gd name="adj" fmla="val 2198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8" name="Image 1" descr="/mnt/data/course_screenshots/04_cart.png">    </p:cNvPr>
          <p:cNvPicPr>
            <a:picLocks noChangeAspect="1"/>
          </p:cNvPicPr>
          <p:nvPr/>
        </p:nvPicPr>
        <p:blipFill>
          <a:blip r:embed="rId2"/>
          <a:srcRect l="0" r="0" t="2897" b="2897"/>
          <a:stretch/>
        </p:blipFill>
        <p:spPr>
          <a:xfrm>
            <a:off x="6199632" y="1307592"/>
            <a:ext cx="5303520" cy="32918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13232" y="4919472"/>
            <a:ext cx="3337560" cy="1143000"/>
          </a:xfrm>
          <a:prstGeom prst="roundRect">
            <a:avLst>
              <a:gd name="adj" fmla="val 6400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914400" y="5084064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Каталог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14400" y="5486400"/>
            <a:ext cx="29352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поиск по названию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фильтр по категориям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сортировка товаров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407408" y="4919472"/>
            <a:ext cx="3337560" cy="1143000"/>
          </a:xfrm>
          <a:prstGeom prst="roundRect">
            <a:avLst>
              <a:gd name="adj" fmla="val 6400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608576" y="5084064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Корзина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608576" y="5486400"/>
            <a:ext cx="29352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добавление товаров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изменение количества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подсчёт суммы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01584" y="4919472"/>
            <a:ext cx="3337560" cy="1143000"/>
          </a:xfrm>
          <a:prstGeom prst="roundRect">
            <a:avLst>
              <a:gd name="adj" fmla="val 6400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302752" y="5084064"/>
            <a:ext cx="2935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Заказ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302752" y="5486400"/>
            <a:ext cx="29352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проверка формы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контактные данные клиента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очистка корзины после отправки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7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EFE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Результат работы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94360" y="70408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DB9AE"/>
                </a:solidFill>
              </a:rPr>
              <a:t>Итоговый сайт готов к демонстрации и защите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594360" y="987552"/>
            <a:ext cx="10972800" cy="0"/>
          </a:xfrm>
          <a:prstGeom prst="line">
            <a:avLst/>
          </a:prstGeom>
          <a:noFill/>
          <a:ln w="12700">
            <a:solidFill>
              <a:srgbClr val="5A26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216152"/>
            <a:ext cx="4974336" cy="3328416"/>
          </a:xfrm>
          <a:prstGeom prst="roundRect">
            <a:avLst>
              <a:gd name="adj" fmla="val 2198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6" name="Image 0" descr="/mnt/data/course_screenshots/05_contacts.png">    </p:cNvPr>
          <p:cNvPicPr>
            <a:picLocks noChangeAspect="1"/>
          </p:cNvPicPr>
          <p:nvPr/>
        </p:nvPicPr>
        <p:blipFill>
          <a:blip r:embed="rId1"/>
          <a:srcRect l="586" r="586" t="0" b="0"/>
          <a:stretch/>
        </p:blipFill>
        <p:spPr>
          <a:xfrm>
            <a:off x="685800" y="1234440"/>
            <a:ext cx="493776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71032" y="1124712"/>
            <a:ext cx="1911096" cy="4105656"/>
          </a:xfrm>
          <a:prstGeom prst="roundRect">
            <a:avLst>
              <a:gd name="adj" fmla="val 3828"/>
            </a:avLst>
          </a:prstGeom>
          <a:solidFill>
            <a:srgbClr val="120C0E"/>
          </a:solidFill>
          <a:ln w="12700">
            <a:solidFill>
              <a:srgbClr val="5A2630"/>
            </a:solidFill>
            <a:prstDash val="solid"/>
          </a:ln>
        </p:spPr>
      </p:sp>
      <p:pic>
        <p:nvPicPr>
          <p:cNvPr id="8" name="Image 1" descr="/mnt/data/course_screenshots/06_mobile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149213"/>
            <a:ext cx="1874520" cy="405665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75320" y="12344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EFE6"/>
                </a:solidFill>
              </a:rPr>
              <a:t>Что получилось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275320" y="171907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DB9AE"/>
                </a:solidFill>
              </a:rPr>
              <a:t>Разработан сайт кондитерского магазина с понятной структурой, современным интерфейсом, каталогом, корзиной и формой заказа.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275320" y="3090672"/>
            <a:ext cx="3246120" cy="1609344"/>
          </a:xfrm>
          <a:prstGeom prst="roundRect">
            <a:avLst>
              <a:gd name="adj" fmla="val 4545"/>
            </a:avLst>
          </a:prstGeom>
          <a:solidFill>
            <a:srgbClr val="211517">
              <a:alpha val="97000"/>
            </a:srgbClr>
          </a:solidFill>
          <a:ln w="12700">
            <a:solidFill>
              <a:srgbClr val="5A2630">
                <a:alpha val="8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76488" y="325526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EFE6"/>
                </a:solidFill>
              </a:rPr>
              <a:t>Итог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476488" y="365760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50" dirty="0">
                <a:solidFill>
                  <a:srgbClr val="CDB9AE"/>
                </a:solidFill>
              </a:rPr>
              <a:t>4 страницы сайта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адаптивная версия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работающие функции выбора и заказа</a:t>
            </a:r>
            <a:endParaRPr lang="en-US" sz="1050" dirty="0"/>
          </a:p>
          <a:p>
            <a:r>
              <a:rPr lang="en-US" sz="1050" dirty="0">
                <a:solidFill>
                  <a:srgbClr val="CDB9AE"/>
                </a:solidFill>
              </a:rPr>
              <a:t>понятная структура файлов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7223760" y="5916168"/>
            <a:ext cx="4297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AC37D"/>
                </a:solidFill>
              </a:rPr>
              <a:t>Спасибо за внимание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ASOIU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 Patisserie</dc:title>
  <dc:subject>Курсовая работа по Веб-системам и технологиям</dc:subject>
  <dc:creator>Керимов Камиль</dc:creator>
  <cp:lastModifiedBy>Керимов Камиль</cp:lastModifiedBy>
  <cp:revision>1</cp:revision>
  <dcterms:created xsi:type="dcterms:W3CDTF">2026-05-10T12:30:49Z</dcterms:created>
  <dcterms:modified xsi:type="dcterms:W3CDTF">2026-05-10T12:30:49Z</dcterms:modified>
</cp:coreProperties>
</file>